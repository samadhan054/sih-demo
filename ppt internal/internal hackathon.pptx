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  <p:sldId id="297" r:id="rId8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9/3/2026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9/3/2026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9/3/2026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2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60163" y="1913858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485161" y="416866"/>
            <a:ext cx="8534400" cy="869291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570761" y="-505557"/>
            <a:ext cx="10363200" cy="2076450"/>
          </a:xfrm>
        </p:spPr>
        <p:txBody>
          <a:bodyPr/>
          <a:lstStyle/>
          <a:p>
            <a:r>
              <a:rPr lang="en-US" sz="3600" b="1" dirty="0">
                <a:solidFill>
                  <a:schemeClr val="tx2"/>
                </a:solidFill>
                <a:latin typeface="Garamond" panose="02020404030301010803" pitchFamily="18" charset="0"/>
              </a:rPr>
              <a:t>    SMART INDIA HACKATHON 2026</a:t>
            </a:r>
            <a:endParaRPr lang="en-IN" sz="36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1549693"/>
            <a:ext cx="6392071" cy="43412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9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–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SIH26192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9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-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Flash Flood Prediction System for Hilly Regions using Multi-Source Data Theme.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900" b="1" dirty="0">
                <a:latin typeface="Arial" panose="020B0604020202020204" pitchFamily="34" charset="0"/>
                <a:cs typeface="Arial" panose="020B0604020202020204" pitchFamily="34" charset="0"/>
              </a:rPr>
              <a:t>Theme-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Disaster Management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900" b="1" dirty="0">
                <a:latin typeface="Arial" panose="020B0604020202020204" pitchFamily="34" charset="0"/>
                <a:cs typeface="Arial" panose="020B0604020202020204" pitchFamily="34" charset="0"/>
              </a:rPr>
              <a:t>PS Category-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Software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900" b="1" dirty="0">
                <a:latin typeface="Arial" panose="020B0604020202020204" pitchFamily="34" charset="0"/>
                <a:cs typeface="Arial" panose="020B0604020202020204" pitchFamily="34" charset="0"/>
              </a:rPr>
              <a:t>Team ID- 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900" b="1" dirty="0">
                <a:latin typeface="Arial" panose="020B0604020202020204" pitchFamily="34" charset="0"/>
                <a:cs typeface="Arial" panose="020B0604020202020204" pitchFamily="34" charset="0"/>
              </a:rPr>
              <a:t>Team Name-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Elites</a:t>
            </a:r>
            <a:endParaRPr lang="en-I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329773" y="-140218"/>
            <a:ext cx="10972800" cy="807334"/>
          </a:xfrm>
        </p:spPr>
        <p:txBody>
          <a:bodyPr/>
          <a:lstStyle/>
          <a:p>
            <a:pPr eaLnBrk="1" hangingPunct="1"/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       IDEA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498108" y="31915"/>
            <a:ext cx="1251857" cy="971913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Bodoni MT" panose="02070603080606020203" pitchFamily="18" charset="0"/>
              </a:rPr>
              <a:t>Elites</a:t>
            </a:r>
            <a:endParaRPr lang="en-IN" sz="2000" b="1" dirty="0">
              <a:latin typeface="Bodoni MT" panose="02070603080606020203" pitchFamily="18" charset="0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C3DC853-6DCE-46C0-D3B8-59BC03B2F38C}"/>
              </a:ext>
            </a:extLst>
          </p:cNvPr>
          <p:cNvSpPr/>
          <p:nvPr/>
        </p:nvSpPr>
        <p:spPr>
          <a:xfrm>
            <a:off x="635579" y="1080695"/>
            <a:ext cx="5476239" cy="3673695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8720D78-1658-7627-19DC-ABB59754E1C3}"/>
              </a:ext>
            </a:extLst>
          </p:cNvPr>
          <p:cNvSpPr/>
          <p:nvPr/>
        </p:nvSpPr>
        <p:spPr>
          <a:xfrm>
            <a:off x="6460945" y="1091276"/>
            <a:ext cx="5374638" cy="3673695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Multiplication Sign 4">
            <a:extLst>
              <a:ext uri="{FF2B5EF4-FFF2-40B4-BE49-F238E27FC236}">
                <a16:creationId xmlns:a16="http://schemas.microsoft.com/office/drawing/2014/main" id="{1EFAF6CE-2C2A-5B67-E34F-B970F1C2F3FE}"/>
              </a:ext>
            </a:extLst>
          </p:cNvPr>
          <p:cNvSpPr/>
          <p:nvPr/>
        </p:nvSpPr>
        <p:spPr>
          <a:xfrm>
            <a:off x="1124037" y="1139584"/>
            <a:ext cx="335280" cy="284480"/>
          </a:xfrm>
          <a:prstGeom prst="mathMultiply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ln>
                <a:solidFill>
                  <a:schemeClr val="tx1"/>
                </a:solidFill>
              </a:ln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32723B-78C0-0873-352C-7D6444594266}"/>
              </a:ext>
            </a:extLst>
          </p:cNvPr>
          <p:cNvSpPr txBox="1"/>
          <p:nvPr/>
        </p:nvSpPr>
        <p:spPr>
          <a:xfrm>
            <a:off x="1518016" y="1116643"/>
            <a:ext cx="1747520" cy="400110"/>
          </a:xfrm>
          <a:prstGeom prst="rect">
            <a:avLst/>
          </a:prstGeom>
          <a:noFill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2000" b="1" dirty="0">
                <a:ln>
                  <a:solidFill>
                    <a:schemeClr val="tx1"/>
                  </a:solidFill>
                </a:ln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>
                <a:ln>
                  <a:solidFill>
                    <a:schemeClr val="tx1"/>
                  </a:solidFill>
                </a:ln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</a:t>
            </a:r>
            <a:endParaRPr lang="en-IN" sz="2000" b="1" dirty="0">
              <a:ln>
                <a:solidFill>
                  <a:schemeClr val="tx1"/>
                </a:solidFill>
              </a:ln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D04D675-1CB4-6263-2710-4DE76A6F65E9}"/>
              </a:ext>
            </a:extLst>
          </p:cNvPr>
          <p:cNvSpPr txBox="1"/>
          <p:nvPr/>
        </p:nvSpPr>
        <p:spPr>
          <a:xfrm>
            <a:off x="883920" y="1516753"/>
            <a:ext cx="5212079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Flash floods in Himalayan basins strike within </a:t>
            </a: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minutes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of cloudburst — zero lead time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Traditional downstream gauge systems miss </a:t>
            </a: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upstream gorge </a:t>
            </a:r>
            <a:r>
              <a:rPr lang="en-IN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funneling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dynamics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unified multi-source platform (rain + river + soil + DEM)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4,000+ lives lost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annually to floods in India (NDMA 2023)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Cellular blackout prevents SOS signals during peak disaster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Rescue dispatch is manual, slow, and lacks priority scoring.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CFBA7955-BD99-FBF0-931F-8D5EF4D63AAA}"/>
              </a:ext>
            </a:extLst>
          </p:cNvPr>
          <p:cNvSpPr/>
          <p:nvPr/>
        </p:nvSpPr>
        <p:spPr>
          <a:xfrm>
            <a:off x="7016977" y="1281824"/>
            <a:ext cx="248920" cy="131176"/>
          </a:xfrm>
          <a:custGeom>
            <a:avLst/>
            <a:gdLst>
              <a:gd name="csX0" fmla="*/ 0 w 826048"/>
              <a:gd name="csY0" fmla="*/ 226863 h 356285"/>
              <a:gd name="csX1" fmla="*/ 294640 w 826048"/>
              <a:gd name="csY1" fmla="*/ 348783 h 356285"/>
              <a:gd name="csX2" fmla="*/ 782320 w 826048"/>
              <a:gd name="csY2" fmla="*/ 33823 h 356285"/>
              <a:gd name="csX3" fmla="*/ 772160 w 826048"/>
              <a:gd name="csY3" fmla="*/ 23663 h 3562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26048" h="356285">
                <a:moveTo>
                  <a:pt x="0" y="226863"/>
                </a:moveTo>
                <a:cubicBezTo>
                  <a:pt x="82126" y="303909"/>
                  <a:pt x="164253" y="380956"/>
                  <a:pt x="294640" y="348783"/>
                </a:cubicBezTo>
                <a:cubicBezTo>
                  <a:pt x="425027" y="316610"/>
                  <a:pt x="702733" y="88010"/>
                  <a:pt x="782320" y="33823"/>
                </a:cubicBezTo>
                <a:cubicBezTo>
                  <a:pt x="861907" y="-20364"/>
                  <a:pt x="817033" y="1649"/>
                  <a:pt x="772160" y="23663"/>
                </a:cubicBezTo>
              </a:path>
            </a:pathLst>
          </a:custGeom>
          <a:noFill/>
          <a:ln w="28575">
            <a:solidFill>
              <a:srgbClr val="00B050"/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3CC5C6-6617-0E3F-C755-4036476803E9}"/>
              </a:ext>
            </a:extLst>
          </p:cNvPr>
          <p:cNvSpPr txBox="1"/>
          <p:nvPr/>
        </p:nvSpPr>
        <p:spPr>
          <a:xfrm>
            <a:off x="7378704" y="1139584"/>
            <a:ext cx="1737360" cy="40011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2000" b="1" dirty="0">
                <a:ln>
                  <a:solidFill>
                    <a:schemeClr val="tx1"/>
                  </a:solidFill>
                </a:ln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Our Solution</a:t>
            </a:r>
            <a:endParaRPr lang="en-IN" sz="2000" b="1" dirty="0">
              <a:ln>
                <a:solidFill>
                  <a:schemeClr val="tx1"/>
                </a:solidFill>
              </a:ln>
              <a:solidFill>
                <a:srgbClr val="00B05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F0E8920-4B55-48D1-E6E2-1FCFA26F3BC7}"/>
              </a:ext>
            </a:extLst>
          </p:cNvPr>
          <p:cNvSpPr txBox="1"/>
          <p:nvPr/>
        </p:nvSpPr>
        <p:spPr>
          <a:xfrm>
            <a:off x="6653230" y="1569075"/>
            <a:ext cx="5218427" cy="329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Multi-source risk engine: Rainfall + River Rise + CWC Thresholds + Soil Saturation + DEM slope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28+ real Indian rivers registered with </a:t>
            </a: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CWC gauge threshold bands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Automatic danger breach detection → instant SMS alerts + rescue priority queue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Satellite SOS</a:t>
            </a: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128-byte compressed binary packet — works with ZERO cellular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GIS interactive risk map with real-time rescue lifecycle tracking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RBAC portal for Citizens, Rescue Teams, Govt &amp; Admins.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7F7AA959-081F-1DF3-88A5-7B9CD395DEAD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99000"/>
                    </a14:imgEffect>
                  </a14:imgLayer>
                </a14:imgProps>
              </a:ext>
            </a:extLst>
          </a:blip>
          <a:srcRect t="7699"/>
          <a:stretch>
            <a:fillRect/>
          </a:stretch>
        </p:blipFill>
        <p:spPr>
          <a:xfrm>
            <a:off x="759091" y="4944938"/>
            <a:ext cx="11076492" cy="126063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609600" y="-135022"/>
            <a:ext cx="10972800" cy="1143000"/>
          </a:xfrm>
        </p:spPr>
        <p:txBody>
          <a:bodyPr/>
          <a:lstStyle/>
          <a:p>
            <a:pPr eaLnBrk="1" hangingPunct="1"/>
            <a:r>
              <a:rPr lang="en-US" sz="32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129001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Bodoni MT" panose="02070603080606020203" pitchFamily="18" charset="0"/>
              </a:rPr>
              <a:t>Elites</a:t>
            </a:r>
            <a:endParaRPr lang="en-IN" b="1" dirty="0">
              <a:latin typeface="Bodoni MT" panose="02070603080606020203" pitchFamily="18" charset="0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93483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E196B83-41AA-C2F1-4DF6-B85E9B9EA43D}"/>
              </a:ext>
            </a:extLst>
          </p:cNvPr>
          <p:cNvSpPr txBox="1"/>
          <p:nvPr/>
        </p:nvSpPr>
        <p:spPr>
          <a:xfrm>
            <a:off x="2370817" y="1208309"/>
            <a:ext cx="2118166" cy="40011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sz="2000" b="1" dirty="0">
                <a:ln w="22225">
                  <a:solidFill>
                    <a:schemeClr val="tx1">
                      <a:lumMod val="75000"/>
                      <a:lumOff val="25000"/>
                    </a:schemeClr>
                  </a:solidFill>
                  <a:prstDash val="solid"/>
                </a:ln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Technology</a:t>
            </a:r>
            <a:r>
              <a:rPr lang="en-US" sz="2000" b="1" dirty="0">
                <a:solidFill>
                  <a:schemeClr val="accent6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>
                <a:ln w="22225">
                  <a:solidFill>
                    <a:schemeClr val="tx1">
                      <a:lumMod val="75000"/>
                      <a:lumOff val="25000"/>
                    </a:schemeClr>
                  </a:solidFill>
                  <a:prstDash val="solid"/>
                </a:ln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Stack</a:t>
            </a:r>
            <a:endParaRPr lang="en-IN" sz="2000" b="1" dirty="0">
              <a:ln w="22225">
                <a:solidFill>
                  <a:schemeClr val="tx1">
                    <a:lumMod val="75000"/>
                    <a:lumOff val="25000"/>
                  </a:schemeClr>
                </a:solidFill>
                <a:prstDash val="solid"/>
              </a:ln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B3A1B74-F70A-0660-2429-C60C8B3031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4807985"/>
              </p:ext>
            </p:extLst>
          </p:nvPr>
        </p:nvGraphicFramePr>
        <p:xfrm>
          <a:off x="782057" y="1808750"/>
          <a:ext cx="4993789" cy="399612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579645">
                  <a:extLst>
                    <a:ext uri="{9D8B030D-6E8A-4147-A177-3AD203B41FA5}">
                      <a16:colId xmlns:a16="http://schemas.microsoft.com/office/drawing/2014/main" val="130571345"/>
                    </a:ext>
                  </a:extLst>
                </a:gridCol>
                <a:gridCol w="3414144">
                  <a:extLst>
                    <a:ext uri="{9D8B030D-6E8A-4147-A177-3AD203B41FA5}">
                      <a16:colId xmlns:a16="http://schemas.microsoft.com/office/drawing/2014/main" val="542464420"/>
                    </a:ext>
                  </a:extLst>
                </a:gridCol>
              </a:tblGrid>
              <a:tr h="414120"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en-IN" sz="1600" b="1" dirty="0">
                          <a:effectLst/>
                        </a:rPr>
                        <a:t>Layer</a:t>
                      </a:r>
                      <a:endParaRPr lang="en-IN" sz="1600" b="1" i="0" dirty="0">
                        <a:solidFill>
                          <a:srgbClr val="1A56DB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5720" marR="45720" marT="30480" marB="3048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en-IN" sz="1600" b="1" dirty="0">
                          <a:effectLst/>
                        </a:rPr>
                        <a:t>Technology</a:t>
                      </a:r>
                      <a:endParaRPr lang="en-IN" sz="1600" b="1" i="0" dirty="0">
                        <a:solidFill>
                          <a:srgbClr val="1A56DB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5720" marR="45720" marT="30480" marB="3048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5515369"/>
                  </a:ext>
                </a:extLst>
              </a:tr>
              <a:tr h="414120"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en-IN" sz="1600" dirty="0">
                          <a:effectLst/>
                        </a:rPr>
                        <a:t>Frontend</a:t>
                      </a:r>
                      <a:endParaRPr lang="en-IN" sz="1600" b="1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5720" marR="45720" marT="30480" marB="3048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>
                        <a:buNone/>
                      </a:pPr>
                      <a:r>
                        <a:rPr lang="en-IN" sz="1600" dirty="0">
                          <a:effectLst/>
                        </a:rPr>
                        <a:t>React 18 + TypeScript + Tailwind CSS</a:t>
                      </a:r>
                      <a:endParaRPr lang="en-IN" sz="1600" b="0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5720" marR="45720" marT="30480" marB="3048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3077939"/>
                  </a:ext>
                </a:extLst>
              </a:tr>
              <a:tr h="414120"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en-IN" sz="1600" dirty="0">
                          <a:effectLst/>
                        </a:rPr>
                        <a:t>Maps</a:t>
                      </a:r>
                      <a:endParaRPr lang="en-IN" sz="1600" b="1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5720" marR="45720" marT="30480" marB="3048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>
                        <a:buNone/>
                      </a:pPr>
                      <a:r>
                        <a:rPr lang="en-IN" sz="1600" dirty="0">
                          <a:effectLst/>
                        </a:rPr>
                        <a:t>Leaflet.js (react-leaflet) + </a:t>
                      </a:r>
                      <a:r>
                        <a:rPr lang="en-IN" sz="1600" dirty="0" err="1">
                          <a:effectLst/>
                        </a:rPr>
                        <a:t>GeoJSON</a:t>
                      </a:r>
                      <a:endParaRPr lang="en-IN" sz="1600" b="0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5720" marR="45720" marT="30480" marB="3048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9793480"/>
                  </a:ext>
                </a:extLst>
              </a:tr>
              <a:tr h="414120"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en-IN" sz="1600" dirty="0">
                          <a:effectLst/>
                        </a:rPr>
                        <a:t>Charts</a:t>
                      </a:r>
                      <a:endParaRPr lang="en-IN" sz="1600" b="1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5720" marR="45720" marT="30480" marB="3048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>
                        <a:buNone/>
                      </a:pPr>
                      <a:r>
                        <a:rPr lang="en-IN" sz="1600" dirty="0">
                          <a:effectLst/>
                        </a:rPr>
                        <a:t>Recharts (</a:t>
                      </a:r>
                      <a:r>
                        <a:rPr lang="en-IN" sz="1600" dirty="0" err="1">
                          <a:effectLst/>
                        </a:rPr>
                        <a:t>AreaChart</a:t>
                      </a:r>
                      <a:r>
                        <a:rPr lang="en-IN" sz="1600" dirty="0">
                          <a:effectLst/>
                        </a:rPr>
                        <a:t>, </a:t>
                      </a:r>
                      <a:r>
                        <a:rPr lang="en-IN" sz="1600" dirty="0" err="1">
                          <a:effectLst/>
                        </a:rPr>
                        <a:t>BarChart</a:t>
                      </a:r>
                      <a:r>
                        <a:rPr lang="en-IN" sz="1600" dirty="0">
                          <a:effectLst/>
                        </a:rPr>
                        <a:t>, </a:t>
                      </a:r>
                      <a:r>
                        <a:rPr lang="en-IN" sz="1600" dirty="0" err="1">
                          <a:effectLst/>
                        </a:rPr>
                        <a:t>RefLines</a:t>
                      </a:r>
                      <a:r>
                        <a:rPr lang="en-IN" sz="1600" dirty="0">
                          <a:effectLst/>
                        </a:rPr>
                        <a:t>)</a:t>
                      </a:r>
                      <a:endParaRPr lang="en-IN" sz="1600" b="0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5720" marR="45720" marT="30480" marB="3048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2284955"/>
                  </a:ext>
                </a:extLst>
              </a:tr>
              <a:tr h="414120"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en-IN" sz="1600" dirty="0">
                          <a:effectLst/>
                        </a:rPr>
                        <a:t>Backend</a:t>
                      </a:r>
                      <a:endParaRPr lang="en-IN" sz="1600" b="1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5720" marR="45720" marT="30480" marB="3048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>
                        <a:buNone/>
                      </a:pPr>
                      <a:r>
                        <a:rPr lang="en-IN" sz="1600" dirty="0">
                          <a:effectLst/>
                        </a:rPr>
                        <a:t>Node.js + Express + TypeScript</a:t>
                      </a:r>
                      <a:endParaRPr lang="en-IN" sz="1600" b="0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5720" marR="45720" marT="30480" marB="3048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0169284"/>
                  </a:ext>
                </a:extLst>
              </a:tr>
              <a:tr h="414120"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en-IN" sz="1600" dirty="0">
                          <a:effectLst/>
                        </a:rPr>
                        <a:t>Real-time</a:t>
                      </a:r>
                      <a:endParaRPr lang="en-IN" sz="1600" b="1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5720" marR="45720" marT="30480" marB="3048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>
                        <a:buNone/>
                      </a:pPr>
                      <a:r>
                        <a:rPr lang="en-IN" sz="1600" dirty="0">
                          <a:effectLst/>
                        </a:rPr>
                        <a:t>Socket.IO </a:t>
                      </a:r>
                      <a:r>
                        <a:rPr lang="en-IN" sz="1600" dirty="0" err="1">
                          <a:effectLst/>
                        </a:rPr>
                        <a:t>WebSockets</a:t>
                      </a:r>
                      <a:r>
                        <a:rPr lang="en-IN" sz="1600" dirty="0">
                          <a:effectLst/>
                        </a:rPr>
                        <a:t> (6-sec ticks)</a:t>
                      </a:r>
                      <a:endParaRPr lang="en-IN" sz="1600" b="0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5720" marR="45720" marT="30480" marB="3048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3812502"/>
                  </a:ext>
                </a:extLst>
              </a:tr>
              <a:tr h="414120"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en-IN" sz="1600" dirty="0">
                          <a:effectLst/>
                        </a:rPr>
                        <a:t>Auth</a:t>
                      </a:r>
                      <a:endParaRPr lang="en-IN" sz="1600" b="1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5720" marR="45720" marT="30480" marB="3048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>
                        <a:buNone/>
                      </a:pPr>
                      <a:r>
                        <a:rPr lang="en-IN" sz="1600" dirty="0">
                          <a:effectLst/>
                        </a:rPr>
                        <a:t>JWT + RBAC Middleware</a:t>
                      </a:r>
                      <a:endParaRPr lang="en-IN" sz="1600" b="0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5720" marR="45720" marT="30480" marB="3048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3156639"/>
                  </a:ext>
                </a:extLst>
              </a:tr>
              <a:tr h="414120"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en-IN" sz="1600" dirty="0">
                          <a:effectLst/>
                        </a:rPr>
                        <a:t>DB (prod)</a:t>
                      </a:r>
                      <a:endParaRPr lang="en-IN" sz="1600" b="1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5720" marR="45720" marT="30480" marB="3048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>
                        <a:buNone/>
                      </a:pPr>
                      <a:r>
                        <a:rPr lang="en-IN" sz="1600" dirty="0">
                          <a:effectLst/>
                        </a:rPr>
                        <a:t>PostgreSQL + </a:t>
                      </a:r>
                      <a:r>
                        <a:rPr lang="en-IN" sz="1600" dirty="0" err="1">
                          <a:effectLst/>
                        </a:rPr>
                        <a:t>PostGIS</a:t>
                      </a:r>
                      <a:r>
                        <a:rPr lang="en-IN" sz="1600" dirty="0">
                          <a:effectLst/>
                        </a:rPr>
                        <a:t> + Redis</a:t>
                      </a:r>
                      <a:endParaRPr lang="en-IN" sz="1600" b="0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5720" marR="45720" marT="30480" marB="3048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6467434"/>
                  </a:ext>
                </a:extLst>
              </a:tr>
              <a:tr h="414120">
                <a:tc>
                  <a:txBody>
                    <a:bodyPr/>
                    <a:lstStyle/>
                    <a:p>
                      <a:pPr marL="0" marR="0" indent="0" algn="ctr">
                        <a:buNone/>
                      </a:pPr>
                      <a:r>
                        <a:rPr lang="en-IN" sz="1600" dirty="0">
                          <a:effectLst/>
                        </a:rPr>
                        <a:t>Deploy</a:t>
                      </a:r>
                      <a:endParaRPr lang="en-IN" sz="1600" b="1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5720" marR="45720" marT="30480" marB="3048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>
                        <a:buNone/>
                      </a:pPr>
                      <a:r>
                        <a:rPr lang="en-IN" sz="1600" dirty="0">
                          <a:effectLst/>
                        </a:rPr>
                        <a:t>Docker Compose (client:3000, server:5000</a:t>
                      </a:r>
                      <a:endParaRPr lang="en-IN" sz="1600" b="0" i="0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45720" marR="45720" marT="30480" marB="3048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3880634"/>
                  </a:ext>
                </a:extLst>
              </a:tr>
            </a:tbl>
          </a:graphicData>
        </a:graphic>
      </p:graphicFrame>
      <p:sp>
        <p:nvSpPr>
          <p:cNvPr id="13" name="Frame 12">
            <a:extLst>
              <a:ext uri="{FF2B5EF4-FFF2-40B4-BE49-F238E27FC236}">
                <a16:creationId xmlns:a16="http://schemas.microsoft.com/office/drawing/2014/main" id="{E6C9F4BB-6AFB-B166-EEC9-11E1DE9046E0}"/>
              </a:ext>
            </a:extLst>
          </p:cNvPr>
          <p:cNvSpPr/>
          <p:nvPr/>
        </p:nvSpPr>
        <p:spPr>
          <a:xfrm>
            <a:off x="1634318" y="1208312"/>
            <a:ext cx="406400" cy="325492"/>
          </a:xfrm>
          <a:prstGeom prst="frame">
            <a:avLst/>
          </a:prstGeom>
          <a:solidFill>
            <a:schemeClr val="tx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CD3ED1-5D1A-FD06-A51F-208E37F967CC}"/>
              </a:ext>
            </a:extLst>
          </p:cNvPr>
          <p:cNvSpPr/>
          <p:nvPr/>
        </p:nvSpPr>
        <p:spPr>
          <a:xfrm>
            <a:off x="1500269" y="1528853"/>
            <a:ext cx="633371" cy="74617"/>
          </a:xfrm>
          <a:prstGeom prst="rect">
            <a:avLst/>
          </a:prstGeom>
          <a:solidFill>
            <a:schemeClr val="tx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8A9D6E2-3354-2DB3-CBE7-D6EFC92F94C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378" r="5689" b="2323"/>
          <a:stretch>
            <a:fillRect/>
          </a:stretch>
        </p:blipFill>
        <p:spPr>
          <a:xfrm>
            <a:off x="6595623" y="936335"/>
            <a:ext cx="4283954" cy="528190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609598" y="-145047"/>
            <a:ext cx="10972800" cy="1143000"/>
          </a:xfrm>
        </p:spPr>
        <p:txBody>
          <a:bodyPr/>
          <a:lstStyle/>
          <a:p>
            <a:pPr eaLnBrk="1" hangingPunct="1"/>
            <a:r>
              <a:rPr lang="en-US" sz="32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</a:t>
            </a: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 AND </a:t>
            </a:r>
            <a:r>
              <a:rPr lang="en-US" sz="32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460534" y="137660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Bodoni MT" panose="02070603080606020203" pitchFamily="18" charset="0"/>
              </a:rPr>
              <a:t>Elites</a:t>
            </a:r>
            <a:endParaRPr lang="en-IN" b="1" dirty="0">
              <a:latin typeface="Bodoni MT" panose="02070603080606020203" pitchFamily="18" charset="0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1"/>
            <a:ext cx="2249850" cy="100647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2625FFA-4160-C678-CEFA-6E32600D370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218" b="3002"/>
          <a:stretch>
            <a:fillRect/>
          </a:stretch>
        </p:blipFill>
        <p:spPr>
          <a:xfrm>
            <a:off x="1086463" y="1030221"/>
            <a:ext cx="10019071" cy="5286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609600" y="-85325"/>
            <a:ext cx="10972800" cy="1143000"/>
          </a:xfrm>
        </p:spPr>
        <p:txBody>
          <a:bodyPr/>
          <a:lstStyle/>
          <a:p>
            <a:pPr eaLnBrk="1" hangingPunct="1"/>
            <a:r>
              <a:rPr lang="en-US" sz="32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    IMPACT</a:t>
            </a: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Bodoni MT" panose="02070603080606020203" pitchFamily="18" charset="0"/>
              </a:rPr>
              <a:t>Elites</a:t>
            </a:r>
            <a:endParaRPr lang="en-IN" b="1" dirty="0">
              <a:latin typeface="Bodoni MT" panose="02070603080606020203" pitchFamily="18" charset="0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C51D5C0-02F4-FFA0-F336-C76763B340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130" y="1374945"/>
            <a:ext cx="7349539" cy="289555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BE3E3C7-7625-0DA5-7828-7129FBA775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7450" y="1374945"/>
            <a:ext cx="3798419" cy="2895556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624CF48-E064-A4FB-12C9-E6111023441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607" t="6659" r="4510" b="8255"/>
          <a:stretch>
            <a:fillRect/>
          </a:stretch>
        </p:blipFill>
        <p:spPr>
          <a:xfrm>
            <a:off x="329773" y="4407023"/>
            <a:ext cx="3665221" cy="1728306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B282638-3624-83A3-B4E7-9FDCA3985AD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2393" t="8016" r="2801" b="8016"/>
          <a:stretch>
            <a:fillRect/>
          </a:stretch>
        </p:blipFill>
        <p:spPr>
          <a:xfrm>
            <a:off x="4100448" y="4407022"/>
            <a:ext cx="3665221" cy="1728307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8AB61F2-AAC2-14AF-9383-53FC145A0A1D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5409" t="7390" r="6315" b="8070"/>
          <a:stretch>
            <a:fillRect/>
          </a:stretch>
        </p:blipFill>
        <p:spPr>
          <a:xfrm>
            <a:off x="7879702" y="4407023"/>
            <a:ext cx="3982525" cy="1728306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noProof="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Details / Links of the reference and research work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7760</TotalTime>
  <Words>466</Words>
  <Application>Microsoft Office PowerPoint</Application>
  <PresentationFormat>Widescreen</PresentationFormat>
  <Paragraphs>82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6" baseType="lpstr">
      <vt:lpstr>ＭＳ Ｐゴシック</vt:lpstr>
      <vt:lpstr>Arial</vt:lpstr>
      <vt:lpstr>Bodoni MT</vt:lpstr>
      <vt:lpstr>Calibri</vt:lpstr>
      <vt:lpstr>Garamond</vt:lpstr>
      <vt:lpstr>Segoe UI</vt:lpstr>
      <vt:lpstr>Times New Roman</vt:lpstr>
      <vt:lpstr>TradeGothic</vt:lpstr>
      <vt:lpstr>Office Theme</vt:lpstr>
      <vt:lpstr>    SMART INDIA HACKATHON 2026</vt:lpstr>
      <vt:lpstr>        IDEA TITLE</vt:lpstr>
      <vt:lpstr>TECHNICAL APPROACH</vt:lpstr>
      <vt:lpstr>FEASIBILITY AND VIABILITY</vt:lpstr>
      <vt:lpstr>    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Samadhan Bodhane</cp:lastModifiedBy>
  <cp:revision>150</cp:revision>
  <dcterms:created xsi:type="dcterms:W3CDTF">2013-12-12T18:46:50Z</dcterms:created>
  <dcterms:modified xsi:type="dcterms:W3CDTF">2026-09-03T18:53:07Z</dcterms:modified>
  <cp:category/>
</cp:coreProperties>
</file>