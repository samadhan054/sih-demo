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7A2630-196F-4476-911A-39E26DE59E9F}" type="doc">
      <dgm:prSet loTypeId="urn:microsoft.com/office/officeart/2008/layout/AlternatingHexagons" loCatId="list" qsTypeId="urn:microsoft.com/office/officeart/2005/8/quickstyle/simple2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E25C80A7-7CAD-4BD6-B8A4-A1BAED885BB9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CWC India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– Central Water Commission Gauge Classification   Guidelines (2022)</a:t>
          </a:r>
          <a:endParaRPr lang="en-IN" dirty="0"/>
        </a:p>
      </dgm:t>
    </dgm:pt>
    <dgm:pt modelId="{21785552-5830-4385-9754-C19817694464}" type="parTrans" cxnId="{7E817DB4-453A-4271-87A1-2779F344C2EF}">
      <dgm:prSet/>
      <dgm:spPr/>
      <dgm:t>
        <a:bodyPr/>
        <a:lstStyle/>
        <a:p>
          <a:endParaRPr lang="en-IN"/>
        </a:p>
      </dgm:t>
    </dgm:pt>
    <dgm:pt modelId="{42AC42C5-A154-4E09-9ED2-E282243A1922}" type="sibTrans" cxnId="{7E817DB4-453A-4271-87A1-2779F344C2EF}">
      <dgm:prSet/>
      <dgm:spPr/>
      <dgm:t>
        <a:bodyPr/>
        <a:lstStyle/>
        <a:p>
          <a:endParaRPr lang="en-IN" dirty="0"/>
        </a:p>
      </dgm:t>
    </dgm:pt>
    <dgm:pt modelId="{3444E150-9ACD-470C-92F3-659467AB2DFC}">
      <dgm:prSet phldrT="[Text]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NDMA India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 – National Flood Risk Mitigation Project Reports (2023)</a:t>
          </a:r>
          <a:endParaRPr lang="en-IN" dirty="0"/>
        </a:p>
      </dgm:t>
    </dgm:pt>
    <dgm:pt modelId="{9D31C136-124C-408E-9E4D-757C1FDA30C0}" type="parTrans" cxnId="{437A455A-06FC-49E1-AA3F-93D70D20E41A}">
      <dgm:prSet/>
      <dgm:spPr/>
      <dgm:t>
        <a:bodyPr/>
        <a:lstStyle/>
        <a:p>
          <a:endParaRPr lang="en-IN"/>
        </a:p>
      </dgm:t>
    </dgm:pt>
    <dgm:pt modelId="{36D140A5-76D2-4F79-895F-51BA44191C3A}" type="sibTrans" cxnId="{437A455A-06FC-49E1-AA3F-93D70D20E41A}">
      <dgm:prSet/>
      <dgm:spPr/>
      <dgm:t>
        <a:bodyPr/>
        <a:lstStyle/>
        <a:p>
          <a:endParaRPr lang="en-IN"/>
        </a:p>
      </dgm:t>
    </dgm:pt>
    <dgm:pt modelId="{27A0BA89-5004-4E3D-830C-0ACD94EC885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NASA SMAP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– Soil Moisture Active Passive Satellite L3 Dataset</a:t>
          </a:r>
          <a:endParaRPr lang="en-IN" dirty="0"/>
        </a:p>
      </dgm:t>
    </dgm:pt>
    <dgm:pt modelId="{D6950D4B-AB26-4689-8E02-63ACB7C869B7}" type="parTrans" cxnId="{CE554C74-554F-4F0D-BA00-0B4AD0E09E8E}">
      <dgm:prSet/>
      <dgm:spPr/>
      <dgm:t>
        <a:bodyPr/>
        <a:lstStyle/>
        <a:p>
          <a:endParaRPr lang="en-IN"/>
        </a:p>
      </dgm:t>
    </dgm:pt>
    <dgm:pt modelId="{1E214332-65AE-47BF-9828-70B7C8BFE60E}" type="sibTrans" cxnId="{CE554C74-554F-4F0D-BA00-0B4AD0E09E8E}">
      <dgm:prSet/>
      <dgm:spPr/>
      <dgm:t>
        <a:bodyPr/>
        <a:lstStyle/>
        <a:p>
          <a:endParaRPr lang="en-IN" dirty="0"/>
        </a:p>
      </dgm:t>
    </dgm:pt>
    <dgm:pt modelId="{A4635EAD-269D-4E87-AAF1-4E110FC62BD5}">
      <dgm:prSet phldrT="[Text]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IMD API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 – India Meteorological Department Rainfall Radar Data Feeds</a:t>
          </a:r>
          <a:endParaRPr lang="en-IN" dirty="0"/>
        </a:p>
      </dgm:t>
    </dgm:pt>
    <dgm:pt modelId="{E1E04578-05A9-4917-A38F-E989E100C419}" type="parTrans" cxnId="{818FB315-4C4A-4F5F-B236-4452AEB1E402}">
      <dgm:prSet/>
      <dgm:spPr/>
      <dgm:t>
        <a:bodyPr/>
        <a:lstStyle/>
        <a:p>
          <a:endParaRPr lang="en-IN"/>
        </a:p>
      </dgm:t>
    </dgm:pt>
    <dgm:pt modelId="{D072B483-15CB-4C01-8F76-D49A8BD3889B}" type="sibTrans" cxnId="{818FB315-4C4A-4F5F-B236-4452AEB1E402}">
      <dgm:prSet/>
      <dgm:spPr/>
      <dgm:t>
        <a:bodyPr/>
        <a:lstStyle/>
        <a:p>
          <a:endParaRPr lang="en-IN"/>
        </a:p>
      </dgm:t>
    </dgm:pt>
    <dgm:pt modelId="{9DBFFE66-055F-433D-8D9A-A15D6859F25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Sentinel-1 SAR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 – ESA Copernicus Flood Inundation Mapping</a:t>
          </a:r>
          <a:endParaRPr lang="en-IN" dirty="0"/>
        </a:p>
      </dgm:t>
    </dgm:pt>
    <dgm:pt modelId="{19BCA80E-6123-4195-ABB3-46D03428B157}" type="parTrans" cxnId="{203D509D-A68C-41CD-8005-4B1408C9C1F1}">
      <dgm:prSet/>
      <dgm:spPr/>
      <dgm:t>
        <a:bodyPr/>
        <a:lstStyle/>
        <a:p>
          <a:endParaRPr lang="en-IN"/>
        </a:p>
      </dgm:t>
    </dgm:pt>
    <dgm:pt modelId="{AA5CE782-1FD1-448F-998B-52FC4DC487A7}" type="sibTrans" cxnId="{203D509D-A68C-41CD-8005-4B1408C9C1F1}">
      <dgm:prSet/>
      <dgm:spPr/>
      <dgm:t>
        <a:bodyPr/>
        <a:lstStyle/>
        <a:p>
          <a:endParaRPr lang="en-IN" dirty="0"/>
        </a:p>
      </dgm:t>
    </dgm:pt>
    <dgm:pt modelId="{A97DF65A-C587-4BC4-A42F-76316D2EC643}">
      <dgm:prSet phldrT="[Text]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USGS DEM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 – 30m Digital Elevation Model for Himalayan Watersheds</a:t>
          </a:r>
          <a:endParaRPr lang="en-IN" dirty="0"/>
        </a:p>
      </dgm:t>
    </dgm:pt>
    <dgm:pt modelId="{4D01057A-D9F6-4A6D-BB24-47EC60BB9BDE}" type="parTrans" cxnId="{CA4F1849-F936-4414-9C62-0E5ED08D4DE1}">
      <dgm:prSet/>
      <dgm:spPr/>
      <dgm:t>
        <a:bodyPr/>
        <a:lstStyle/>
        <a:p>
          <a:endParaRPr lang="en-IN"/>
        </a:p>
      </dgm:t>
    </dgm:pt>
    <dgm:pt modelId="{2D8A890D-32BC-499C-AA02-BC836E076EA0}" type="sibTrans" cxnId="{CA4F1849-F936-4414-9C62-0E5ED08D4DE1}">
      <dgm:prSet/>
      <dgm:spPr/>
      <dgm:t>
        <a:bodyPr/>
        <a:lstStyle/>
        <a:p>
          <a:endParaRPr lang="en-IN"/>
        </a:p>
      </dgm:t>
    </dgm:pt>
    <dgm:pt modelId="{B277CA61-D98D-4BCA-8959-D821011969BE}" type="pres">
      <dgm:prSet presAssocID="{C37A2630-196F-4476-911A-39E26DE59E9F}" presName="Name0" presStyleCnt="0">
        <dgm:presLayoutVars>
          <dgm:chMax/>
          <dgm:chPref/>
          <dgm:dir/>
          <dgm:animLvl val="lvl"/>
        </dgm:presLayoutVars>
      </dgm:prSet>
      <dgm:spPr/>
    </dgm:pt>
    <dgm:pt modelId="{77870F18-220D-428A-A4F8-EF4A35A3509D}" type="pres">
      <dgm:prSet presAssocID="{E25C80A7-7CAD-4BD6-B8A4-A1BAED885BB9}" presName="composite" presStyleCnt="0"/>
      <dgm:spPr/>
    </dgm:pt>
    <dgm:pt modelId="{9E3AE664-5FBE-46FD-80F9-2F9BAA856C64}" type="pres">
      <dgm:prSet presAssocID="{E25C80A7-7CAD-4BD6-B8A4-A1BAED885BB9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7E998CAE-E174-4382-8DCC-90761F088CB0}" type="pres">
      <dgm:prSet presAssocID="{E25C80A7-7CAD-4BD6-B8A4-A1BAED885BB9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F70638B-34E6-4BF8-BA94-5C96748748A1}" type="pres">
      <dgm:prSet presAssocID="{E25C80A7-7CAD-4BD6-B8A4-A1BAED885BB9}" presName="BalanceSpacing" presStyleCnt="0"/>
      <dgm:spPr/>
    </dgm:pt>
    <dgm:pt modelId="{7D1B75E3-3A69-48A9-8C9D-6EABBFA9D448}" type="pres">
      <dgm:prSet presAssocID="{E25C80A7-7CAD-4BD6-B8A4-A1BAED885BB9}" presName="BalanceSpacing1" presStyleCnt="0"/>
      <dgm:spPr/>
    </dgm:pt>
    <dgm:pt modelId="{9907B746-388F-44A6-A4CF-56B424247D27}" type="pres">
      <dgm:prSet presAssocID="{42AC42C5-A154-4E09-9ED2-E282243A1922}" presName="Accent1Text" presStyleLbl="node1" presStyleIdx="1" presStyleCnt="6"/>
      <dgm:spPr/>
    </dgm:pt>
    <dgm:pt modelId="{440D6C9D-DE22-46A8-A7E5-E93E89296505}" type="pres">
      <dgm:prSet presAssocID="{42AC42C5-A154-4E09-9ED2-E282243A1922}" presName="spaceBetweenRectangles" presStyleCnt="0"/>
      <dgm:spPr/>
    </dgm:pt>
    <dgm:pt modelId="{11B44594-040F-4F9B-8F5C-F43CCBC3A455}" type="pres">
      <dgm:prSet presAssocID="{27A0BA89-5004-4E3D-830C-0ACD94EC885F}" presName="composite" presStyleCnt="0"/>
      <dgm:spPr/>
    </dgm:pt>
    <dgm:pt modelId="{104153CB-3399-48DB-8A9F-7C637CCC3A48}" type="pres">
      <dgm:prSet presAssocID="{27A0BA89-5004-4E3D-830C-0ACD94EC885F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36D934B0-6FFF-46A7-A77D-ACD53A31C5B6}" type="pres">
      <dgm:prSet presAssocID="{27A0BA89-5004-4E3D-830C-0ACD94EC885F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9B4BE18A-BA4C-4617-B4C5-71D7887C071D}" type="pres">
      <dgm:prSet presAssocID="{27A0BA89-5004-4E3D-830C-0ACD94EC885F}" presName="BalanceSpacing" presStyleCnt="0"/>
      <dgm:spPr/>
    </dgm:pt>
    <dgm:pt modelId="{03CE7152-9E15-48A8-8F31-24D36444A07B}" type="pres">
      <dgm:prSet presAssocID="{27A0BA89-5004-4E3D-830C-0ACD94EC885F}" presName="BalanceSpacing1" presStyleCnt="0"/>
      <dgm:spPr/>
    </dgm:pt>
    <dgm:pt modelId="{DF16F782-F1D9-4ADA-B5F2-B826552F4FF2}" type="pres">
      <dgm:prSet presAssocID="{1E214332-65AE-47BF-9828-70B7C8BFE60E}" presName="Accent1Text" presStyleLbl="node1" presStyleIdx="3" presStyleCnt="6"/>
      <dgm:spPr/>
    </dgm:pt>
    <dgm:pt modelId="{F2C6343D-2B15-4E60-9099-953EBEDE5328}" type="pres">
      <dgm:prSet presAssocID="{1E214332-65AE-47BF-9828-70B7C8BFE60E}" presName="spaceBetweenRectangles" presStyleCnt="0"/>
      <dgm:spPr/>
    </dgm:pt>
    <dgm:pt modelId="{39566238-C914-4C57-8EA0-8360F73F8AD1}" type="pres">
      <dgm:prSet presAssocID="{9DBFFE66-055F-433D-8D9A-A15D6859F25F}" presName="composite" presStyleCnt="0"/>
      <dgm:spPr/>
    </dgm:pt>
    <dgm:pt modelId="{84119752-812C-4071-8B16-6AD486DC6F36}" type="pres">
      <dgm:prSet presAssocID="{9DBFFE66-055F-433D-8D9A-A15D6859F25F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3D15D584-767A-4249-AA8B-57CDDF208486}" type="pres">
      <dgm:prSet presAssocID="{9DBFFE66-055F-433D-8D9A-A15D6859F25F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3DC1E856-0709-48FE-9767-B59ED5FEB015}" type="pres">
      <dgm:prSet presAssocID="{9DBFFE66-055F-433D-8D9A-A15D6859F25F}" presName="BalanceSpacing" presStyleCnt="0"/>
      <dgm:spPr/>
    </dgm:pt>
    <dgm:pt modelId="{A712442B-4130-456A-89FA-7E20DD6602C6}" type="pres">
      <dgm:prSet presAssocID="{9DBFFE66-055F-433D-8D9A-A15D6859F25F}" presName="BalanceSpacing1" presStyleCnt="0"/>
      <dgm:spPr/>
    </dgm:pt>
    <dgm:pt modelId="{6E350859-91CC-4F0E-8E1C-5B3961AA3FF0}" type="pres">
      <dgm:prSet presAssocID="{AA5CE782-1FD1-448F-998B-52FC4DC487A7}" presName="Accent1Text" presStyleLbl="node1" presStyleIdx="5" presStyleCnt="6"/>
      <dgm:spPr/>
    </dgm:pt>
  </dgm:ptLst>
  <dgm:cxnLst>
    <dgm:cxn modelId="{A1133307-DB81-4F18-B8E1-4D6DBFEDBC80}" type="presOf" srcId="{27A0BA89-5004-4E3D-830C-0ACD94EC885F}" destId="{104153CB-3399-48DB-8A9F-7C637CCC3A48}" srcOrd="0" destOrd="0" presId="urn:microsoft.com/office/officeart/2008/layout/AlternatingHexagons"/>
    <dgm:cxn modelId="{CB3F4913-AC64-404D-8449-BF45D69C8F4C}" type="presOf" srcId="{C37A2630-196F-4476-911A-39E26DE59E9F}" destId="{B277CA61-D98D-4BCA-8959-D821011969BE}" srcOrd="0" destOrd="0" presId="urn:microsoft.com/office/officeart/2008/layout/AlternatingHexagons"/>
    <dgm:cxn modelId="{818FB315-4C4A-4F5F-B236-4452AEB1E402}" srcId="{27A0BA89-5004-4E3D-830C-0ACD94EC885F}" destId="{A4635EAD-269D-4E87-AAF1-4E110FC62BD5}" srcOrd="0" destOrd="0" parTransId="{E1E04578-05A9-4917-A38F-E989E100C419}" sibTransId="{D072B483-15CB-4C01-8F76-D49A8BD3889B}"/>
    <dgm:cxn modelId="{2F2E2327-19D8-4F9A-BC66-81A31DEEE735}" type="presOf" srcId="{AA5CE782-1FD1-448F-998B-52FC4DC487A7}" destId="{6E350859-91CC-4F0E-8E1C-5B3961AA3FF0}" srcOrd="0" destOrd="0" presId="urn:microsoft.com/office/officeart/2008/layout/AlternatingHexagons"/>
    <dgm:cxn modelId="{E36C4A3A-7DB2-49A7-8117-703C57364D6D}" type="presOf" srcId="{9DBFFE66-055F-433D-8D9A-A15D6859F25F}" destId="{84119752-812C-4071-8B16-6AD486DC6F36}" srcOrd="0" destOrd="0" presId="urn:microsoft.com/office/officeart/2008/layout/AlternatingHexagons"/>
    <dgm:cxn modelId="{AF722C45-597C-4ACF-A886-E5AE5FCF3043}" type="presOf" srcId="{E25C80A7-7CAD-4BD6-B8A4-A1BAED885BB9}" destId="{9E3AE664-5FBE-46FD-80F9-2F9BAA856C64}" srcOrd="0" destOrd="0" presId="urn:microsoft.com/office/officeart/2008/layout/AlternatingHexagons"/>
    <dgm:cxn modelId="{CA4F1849-F936-4414-9C62-0E5ED08D4DE1}" srcId="{9DBFFE66-055F-433D-8D9A-A15D6859F25F}" destId="{A97DF65A-C587-4BC4-A42F-76316D2EC643}" srcOrd="0" destOrd="0" parTransId="{4D01057A-D9F6-4A6D-BB24-47EC60BB9BDE}" sibTransId="{2D8A890D-32BC-499C-AA02-BC836E076EA0}"/>
    <dgm:cxn modelId="{CE554C74-554F-4F0D-BA00-0B4AD0E09E8E}" srcId="{C37A2630-196F-4476-911A-39E26DE59E9F}" destId="{27A0BA89-5004-4E3D-830C-0ACD94EC885F}" srcOrd="1" destOrd="0" parTransId="{D6950D4B-AB26-4689-8E02-63ACB7C869B7}" sibTransId="{1E214332-65AE-47BF-9828-70B7C8BFE60E}"/>
    <dgm:cxn modelId="{437A455A-06FC-49E1-AA3F-93D70D20E41A}" srcId="{E25C80A7-7CAD-4BD6-B8A4-A1BAED885BB9}" destId="{3444E150-9ACD-470C-92F3-659467AB2DFC}" srcOrd="0" destOrd="0" parTransId="{9D31C136-124C-408E-9E4D-757C1FDA30C0}" sibTransId="{36D140A5-76D2-4F79-895F-51BA44191C3A}"/>
    <dgm:cxn modelId="{4A943F8A-7156-42D1-8AB5-3A1BF0464EFC}" type="presOf" srcId="{1E214332-65AE-47BF-9828-70B7C8BFE60E}" destId="{DF16F782-F1D9-4ADA-B5F2-B826552F4FF2}" srcOrd="0" destOrd="0" presId="urn:microsoft.com/office/officeart/2008/layout/AlternatingHexagons"/>
    <dgm:cxn modelId="{203D509D-A68C-41CD-8005-4B1408C9C1F1}" srcId="{C37A2630-196F-4476-911A-39E26DE59E9F}" destId="{9DBFFE66-055F-433D-8D9A-A15D6859F25F}" srcOrd="2" destOrd="0" parTransId="{19BCA80E-6123-4195-ABB3-46D03428B157}" sibTransId="{AA5CE782-1FD1-448F-998B-52FC4DC487A7}"/>
    <dgm:cxn modelId="{7E817DB4-453A-4271-87A1-2779F344C2EF}" srcId="{C37A2630-196F-4476-911A-39E26DE59E9F}" destId="{E25C80A7-7CAD-4BD6-B8A4-A1BAED885BB9}" srcOrd="0" destOrd="0" parTransId="{21785552-5830-4385-9754-C19817694464}" sibTransId="{42AC42C5-A154-4E09-9ED2-E282243A1922}"/>
    <dgm:cxn modelId="{0BA13EEA-E752-4322-8C34-5152A0BBEAAC}" type="presOf" srcId="{42AC42C5-A154-4E09-9ED2-E282243A1922}" destId="{9907B746-388F-44A6-A4CF-56B424247D27}" srcOrd="0" destOrd="0" presId="urn:microsoft.com/office/officeart/2008/layout/AlternatingHexagons"/>
    <dgm:cxn modelId="{92511FF3-77EF-477F-8E63-C5227A81146E}" type="presOf" srcId="{A4635EAD-269D-4E87-AAF1-4E110FC62BD5}" destId="{36D934B0-6FFF-46A7-A77D-ACD53A31C5B6}" srcOrd="0" destOrd="0" presId="urn:microsoft.com/office/officeart/2008/layout/AlternatingHexagons"/>
    <dgm:cxn modelId="{273140F4-834D-47AD-A4C3-D3656AEEAC72}" type="presOf" srcId="{3444E150-9ACD-470C-92F3-659467AB2DFC}" destId="{7E998CAE-E174-4382-8DCC-90761F088CB0}" srcOrd="0" destOrd="0" presId="urn:microsoft.com/office/officeart/2008/layout/AlternatingHexagons"/>
    <dgm:cxn modelId="{2913E7FE-9DF0-4FF3-BBE2-A1998B7BA8F7}" type="presOf" srcId="{A97DF65A-C587-4BC4-A42F-76316D2EC643}" destId="{3D15D584-767A-4249-AA8B-57CDDF208486}" srcOrd="0" destOrd="0" presId="urn:microsoft.com/office/officeart/2008/layout/AlternatingHexagons"/>
    <dgm:cxn modelId="{B6AB018B-A2FD-4175-AD8F-5D5EA836F6F6}" type="presParOf" srcId="{B277CA61-D98D-4BCA-8959-D821011969BE}" destId="{77870F18-220D-428A-A4F8-EF4A35A3509D}" srcOrd="0" destOrd="0" presId="urn:microsoft.com/office/officeart/2008/layout/AlternatingHexagons"/>
    <dgm:cxn modelId="{CD029DB0-574C-4FC3-A6B1-C10B0B500135}" type="presParOf" srcId="{77870F18-220D-428A-A4F8-EF4A35A3509D}" destId="{9E3AE664-5FBE-46FD-80F9-2F9BAA856C64}" srcOrd="0" destOrd="0" presId="urn:microsoft.com/office/officeart/2008/layout/AlternatingHexagons"/>
    <dgm:cxn modelId="{9D9D9C1B-9228-4CBE-A246-36D00365C3E2}" type="presParOf" srcId="{77870F18-220D-428A-A4F8-EF4A35A3509D}" destId="{7E998CAE-E174-4382-8DCC-90761F088CB0}" srcOrd="1" destOrd="0" presId="urn:microsoft.com/office/officeart/2008/layout/AlternatingHexagons"/>
    <dgm:cxn modelId="{5E903B90-8681-4CB4-9E68-70E9ECF216F9}" type="presParOf" srcId="{77870F18-220D-428A-A4F8-EF4A35A3509D}" destId="{9F70638B-34E6-4BF8-BA94-5C96748748A1}" srcOrd="2" destOrd="0" presId="urn:microsoft.com/office/officeart/2008/layout/AlternatingHexagons"/>
    <dgm:cxn modelId="{AB6C221D-0A42-4912-A7AC-DC3952FB930C}" type="presParOf" srcId="{77870F18-220D-428A-A4F8-EF4A35A3509D}" destId="{7D1B75E3-3A69-48A9-8C9D-6EABBFA9D448}" srcOrd="3" destOrd="0" presId="urn:microsoft.com/office/officeart/2008/layout/AlternatingHexagons"/>
    <dgm:cxn modelId="{15A6ACA1-EAB0-4329-A85A-C3D3E7C3583C}" type="presParOf" srcId="{77870F18-220D-428A-A4F8-EF4A35A3509D}" destId="{9907B746-388F-44A6-A4CF-56B424247D27}" srcOrd="4" destOrd="0" presId="urn:microsoft.com/office/officeart/2008/layout/AlternatingHexagons"/>
    <dgm:cxn modelId="{AB1C309C-582E-4344-A539-AFA97963A194}" type="presParOf" srcId="{B277CA61-D98D-4BCA-8959-D821011969BE}" destId="{440D6C9D-DE22-46A8-A7E5-E93E89296505}" srcOrd="1" destOrd="0" presId="urn:microsoft.com/office/officeart/2008/layout/AlternatingHexagons"/>
    <dgm:cxn modelId="{43DA8AFF-98FE-4320-B70F-D0B7EF4CB384}" type="presParOf" srcId="{B277CA61-D98D-4BCA-8959-D821011969BE}" destId="{11B44594-040F-4F9B-8F5C-F43CCBC3A455}" srcOrd="2" destOrd="0" presId="urn:microsoft.com/office/officeart/2008/layout/AlternatingHexagons"/>
    <dgm:cxn modelId="{8698547D-CEB7-468F-9C04-BC2EA5EF05BE}" type="presParOf" srcId="{11B44594-040F-4F9B-8F5C-F43CCBC3A455}" destId="{104153CB-3399-48DB-8A9F-7C637CCC3A48}" srcOrd="0" destOrd="0" presId="urn:microsoft.com/office/officeart/2008/layout/AlternatingHexagons"/>
    <dgm:cxn modelId="{8F694B4F-AFA3-4EA2-B495-D26C29E78080}" type="presParOf" srcId="{11B44594-040F-4F9B-8F5C-F43CCBC3A455}" destId="{36D934B0-6FFF-46A7-A77D-ACD53A31C5B6}" srcOrd="1" destOrd="0" presId="urn:microsoft.com/office/officeart/2008/layout/AlternatingHexagons"/>
    <dgm:cxn modelId="{78D6272C-2274-4F68-9470-459587F813CC}" type="presParOf" srcId="{11B44594-040F-4F9B-8F5C-F43CCBC3A455}" destId="{9B4BE18A-BA4C-4617-B4C5-71D7887C071D}" srcOrd="2" destOrd="0" presId="urn:microsoft.com/office/officeart/2008/layout/AlternatingHexagons"/>
    <dgm:cxn modelId="{FD1C4A3E-CC3D-4631-B4CE-814EE352DE44}" type="presParOf" srcId="{11B44594-040F-4F9B-8F5C-F43CCBC3A455}" destId="{03CE7152-9E15-48A8-8F31-24D36444A07B}" srcOrd="3" destOrd="0" presId="urn:microsoft.com/office/officeart/2008/layout/AlternatingHexagons"/>
    <dgm:cxn modelId="{0AFBC4A5-A722-45CD-8C89-9A35DE742A86}" type="presParOf" srcId="{11B44594-040F-4F9B-8F5C-F43CCBC3A455}" destId="{DF16F782-F1D9-4ADA-B5F2-B826552F4FF2}" srcOrd="4" destOrd="0" presId="urn:microsoft.com/office/officeart/2008/layout/AlternatingHexagons"/>
    <dgm:cxn modelId="{766BF45F-BE48-46CE-89CF-29D0750C0AEF}" type="presParOf" srcId="{B277CA61-D98D-4BCA-8959-D821011969BE}" destId="{F2C6343D-2B15-4E60-9099-953EBEDE5328}" srcOrd="3" destOrd="0" presId="urn:microsoft.com/office/officeart/2008/layout/AlternatingHexagons"/>
    <dgm:cxn modelId="{DAF6E4CF-B97C-4BD8-80A6-2481EFE3053D}" type="presParOf" srcId="{B277CA61-D98D-4BCA-8959-D821011969BE}" destId="{39566238-C914-4C57-8EA0-8360F73F8AD1}" srcOrd="4" destOrd="0" presId="urn:microsoft.com/office/officeart/2008/layout/AlternatingHexagons"/>
    <dgm:cxn modelId="{F5B972CB-898B-4D7F-9E72-A40490FBC9CE}" type="presParOf" srcId="{39566238-C914-4C57-8EA0-8360F73F8AD1}" destId="{84119752-812C-4071-8B16-6AD486DC6F36}" srcOrd="0" destOrd="0" presId="urn:microsoft.com/office/officeart/2008/layout/AlternatingHexagons"/>
    <dgm:cxn modelId="{ACF04896-FC2B-43CD-BE6C-98DAFD95D7A3}" type="presParOf" srcId="{39566238-C914-4C57-8EA0-8360F73F8AD1}" destId="{3D15D584-767A-4249-AA8B-57CDDF208486}" srcOrd="1" destOrd="0" presId="urn:microsoft.com/office/officeart/2008/layout/AlternatingHexagons"/>
    <dgm:cxn modelId="{6C11586B-4E29-4CCC-A05F-DFECB19A4948}" type="presParOf" srcId="{39566238-C914-4C57-8EA0-8360F73F8AD1}" destId="{3DC1E856-0709-48FE-9767-B59ED5FEB015}" srcOrd="2" destOrd="0" presId="urn:microsoft.com/office/officeart/2008/layout/AlternatingHexagons"/>
    <dgm:cxn modelId="{FCE52AF1-0CB0-4F4E-9F2B-67E61701D11B}" type="presParOf" srcId="{39566238-C914-4C57-8EA0-8360F73F8AD1}" destId="{A712442B-4130-456A-89FA-7E20DD6602C6}" srcOrd="3" destOrd="0" presId="urn:microsoft.com/office/officeart/2008/layout/AlternatingHexagons"/>
    <dgm:cxn modelId="{8BE97BA9-3272-43CF-B24F-9FCB7C8BA33D}" type="presParOf" srcId="{39566238-C914-4C57-8EA0-8360F73F8AD1}" destId="{6E350859-91CC-4F0E-8E1C-5B3961AA3FF0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AE664-5FBE-46FD-80F9-2F9BAA856C64}">
      <dsp:nvSpPr>
        <dsp:cNvPr id="0" name=""/>
        <dsp:cNvSpPr/>
      </dsp:nvSpPr>
      <dsp:spPr>
        <a:xfrm rot="5400000">
          <a:off x="2734152" y="149938"/>
          <a:ext cx="1795712" cy="156227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CWC India</a:t>
          </a: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 – Central Water Commission Gauge Classification   Guidelines (2022)</a:t>
          </a:r>
          <a:endParaRPr lang="en-IN" sz="1200" kern="1200" dirty="0"/>
        </a:p>
      </dsp:txBody>
      <dsp:txXfrm rot="-5400000">
        <a:off x="3094327" y="313049"/>
        <a:ext cx="1075362" cy="1236048"/>
      </dsp:txXfrm>
    </dsp:sp>
    <dsp:sp modelId="{7E998CAE-E174-4382-8DCC-90761F088CB0}">
      <dsp:nvSpPr>
        <dsp:cNvPr id="0" name=""/>
        <dsp:cNvSpPr/>
      </dsp:nvSpPr>
      <dsp:spPr>
        <a:xfrm>
          <a:off x="4460550" y="392360"/>
          <a:ext cx="2004015" cy="107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NDMA India</a:t>
          </a: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– National Flood Risk Mitigation Project Reports (2023)</a:t>
          </a:r>
          <a:endParaRPr lang="en-IN" sz="1200" kern="1200" dirty="0"/>
        </a:p>
      </dsp:txBody>
      <dsp:txXfrm>
        <a:off x="4460550" y="392360"/>
        <a:ext cx="2004015" cy="1077427"/>
      </dsp:txXfrm>
    </dsp:sp>
    <dsp:sp modelId="{9907B746-388F-44A6-A4CF-56B424247D27}">
      <dsp:nvSpPr>
        <dsp:cNvPr id="0" name=""/>
        <dsp:cNvSpPr/>
      </dsp:nvSpPr>
      <dsp:spPr>
        <a:xfrm rot="5400000">
          <a:off x="1046900" y="149938"/>
          <a:ext cx="1795712" cy="156227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 dirty="0"/>
        </a:p>
      </dsp:txBody>
      <dsp:txXfrm rot="-5400000">
        <a:off x="1407075" y="313049"/>
        <a:ext cx="1075362" cy="1236048"/>
      </dsp:txXfrm>
    </dsp:sp>
    <dsp:sp modelId="{104153CB-3399-48DB-8A9F-7C637CCC3A48}">
      <dsp:nvSpPr>
        <dsp:cNvPr id="0" name=""/>
        <dsp:cNvSpPr/>
      </dsp:nvSpPr>
      <dsp:spPr>
        <a:xfrm rot="5400000">
          <a:off x="1887294" y="1674139"/>
          <a:ext cx="1795712" cy="156227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NASA SMAP</a:t>
          </a: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 – Soil Moisture Active Passive Satellite L3 Dataset</a:t>
          </a:r>
          <a:endParaRPr lang="en-IN" sz="1200" kern="1200" dirty="0"/>
        </a:p>
      </dsp:txBody>
      <dsp:txXfrm rot="-5400000">
        <a:off x="2247469" y="1837250"/>
        <a:ext cx="1075362" cy="1236048"/>
      </dsp:txXfrm>
    </dsp:sp>
    <dsp:sp modelId="{36D934B0-6FFF-46A7-A77D-ACD53A31C5B6}">
      <dsp:nvSpPr>
        <dsp:cNvPr id="0" name=""/>
        <dsp:cNvSpPr/>
      </dsp:nvSpPr>
      <dsp:spPr>
        <a:xfrm>
          <a:off x="0" y="1916561"/>
          <a:ext cx="1939369" cy="107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IMD API</a:t>
          </a: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– India Meteorological Department Rainfall Radar Data Feeds</a:t>
          </a:r>
          <a:endParaRPr lang="en-IN" sz="1200" kern="1200" dirty="0"/>
        </a:p>
      </dsp:txBody>
      <dsp:txXfrm>
        <a:off x="0" y="1916561"/>
        <a:ext cx="1939369" cy="1077427"/>
      </dsp:txXfrm>
    </dsp:sp>
    <dsp:sp modelId="{DF16F782-F1D9-4ADA-B5F2-B826552F4FF2}">
      <dsp:nvSpPr>
        <dsp:cNvPr id="0" name=""/>
        <dsp:cNvSpPr/>
      </dsp:nvSpPr>
      <dsp:spPr>
        <a:xfrm rot="5400000">
          <a:off x="3574545" y="1674139"/>
          <a:ext cx="1795712" cy="156227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 dirty="0"/>
        </a:p>
      </dsp:txBody>
      <dsp:txXfrm rot="-5400000">
        <a:off x="3934720" y="1837250"/>
        <a:ext cx="1075362" cy="1236048"/>
      </dsp:txXfrm>
    </dsp:sp>
    <dsp:sp modelId="{84119752-812C-4071-8B16-6AD486DC6F36}">
      <dsp:nvSpPr>
        <dsp:cNvPr id="0" name=""/>
        <dsp:cNvSpPr/>
      </dsp:nvSpPr>
      <dsp:spPr>
        <a:xfrm rot="5400000">
          <a:off x="2734152" y="3198340"/>
          <a:ext cx="1795712" cy="156227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Sentinel-1 SAR</a:t>
          </a:r>
          <a:r>
            <a:rPr lang="en-I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 – ESA Copernicus Flood Inundation Mapping</a:t>
          </a:r>
          <a:endParaRPr lang="en-IN" sz="1200" kern="1200" dirty="0"/>
        </a:p>
      </dsp:txBody>
      <dsp:txXfrm rot="-5400000">
        <a:off x="3094327" y="3361451"/>
        <a:ext cx="1075362" cy="1236048"/>
      </dsp:txXfrm>
    </dsp:sp>
    <dsp:sp modelId="{3D15D584-767A-4249-AA8B-57CDDF208486}">
      <dsp:nvSpPr>
        <dsp:cNvPr id="0" name=""/>
        <dsp:cNvSpPr/>
      </dsp:nvSpPr>
      <dsp:spPr>
        <a:xfrm>
          <a:off x="4460550" y="3440762"/>
          <a:ext cx="2004015" cy="1077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USGS DEM</a:t>
          </a: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 – 30m Digital Elevation Model for Himalayan Watersheds</a:t>
          </a:r>
          <a:endParaRPr lang="en-IN" sz="1200" kern="1200" dirty="0"/>
        </a:p>
      </dsp:txBody>
      <dsp:txXfrm>
        <a:off x="4460550" y="3440762"/>
        <a:ext cx="2004015" cy="1077427"/>
      </dsp:txXfrm>
    </dsp:sp>
    <dsp:sp modelId="{6E350859-91CC-4F0E-8E1C-5B3961AA3FF0}">
      <dsp:nvSpPr>
        <dsp:cNvPr id="0" name=""/>
        <dsp:cNvSpPr/>
      </dsp:nvSpPr>
      <dsp:spPr>
        <a:xfrm rot="5400000">
          <a:off x="1046900" y="3198340"/>
          <a:ext cx="1795712" cy="1562270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 dirty="0"/>
        </a:p>
      </dsp:txBody>
      <dsp:txXfrm rot="-5400000">
        <a:off x="1407075" y="3361451"/>
        <a:ext cx="1075362" cy="12360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163" y="1913858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85161" y="416866"/>
            <a:ext cx="8534400" cy="869291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70761" y="-505557"/>
            <a:ext cx="10363200" cy="207645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    SMART INDIA HACKATHON 2026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495177"/>
            <a:ext cx="6439903" cy="4584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SIH26192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Flood Prediction System for Hilly Regions using Multi-Source Data Theme.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DM09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Elites1417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3" y="-140218"/>
            <a:ext cx="10972800" cy="80733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  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98108" y="31915"/>
            <a:ext cx="1222537" cy="97191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Bodoni MT" panose="02070603080606020203" pitchFamily="18" charset="0"/>
              </a:rPr>
              <a:t>Elites1417</a:t>
            </a:r>
            <a:endParaRPr lang="en-IN" sz="2000" b="1" dirty="0">
              <a:latin typeface="Bodoni MT" panose="02070603080606020203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C3DC853-6DCE-46C0-D3B8-59BC03B2F38C}"/>
              </a:ext>
            </a:extLst>
          </p:cNvPr>
          <p:cNvSpPr/>
          <p:nvPr/>
        </p:nvSpPr>
        <p:spPr>
          <a:xfrm>
            <a:off x="635579" y="1080695"/>
            <a:ext cx="5476239" cy="36736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720D78-1658-7627-19DC-ABB59754E1C3}"/>
              </a:ext>
            </a:extLst>
          </p:cNvPr>
          <p:cNvSpPr/>
          <p:nvPr/>
        </p:nvSpPr>
        <p:spPr>
          <a:xfrm>
            <a:off x="6460945" y="1091276"/>
            <a:ext cx="5374638" cy="36736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1EFAF6CE-2C2A-5B67-E34F-B970F1C2F3FE}"/>
              </a:ext>
            </a:extLst>
          </p:cNvPr>
          <p:cNvSpPr/>
          <p:nvPr/>
        </p:nvSpPr>
        <p:spPr>
          <a:xfrm>
            <a:off x="1124037" y="1139584"/>
            <a:ext cx="335280" cy="284480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2723B-78C0-0873-352C-7D6444594266}"/>
              </a:ext>
            </a:extLst>
          </p:cNvPr>
          <p:cNvSpPr txBox="1"/>
          <p:nvPr/>
        </p:nvSpPr>
        <p:spPr>
          <a:xfrm>
            <a:off x="1518016" y="1116643"/>
            <a:ext cx="1747520" cy="40011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IN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04D675-1CB4-6263-2710-4DE76A6F65E9}"/>
              </a:ext>
            </a:extLst>
          </p:cNvPr>
          <p:cNvSpPr txBox="1"/>
          <p:nvPr/>
        </p:nvSpPr>
        <p:spPr>
          <a:xfrm>
            <a:off x="883920" y="1516753"/>
            <a:ext cx="503074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floods in Himalayan basins strike within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minutes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cloudburst — zero lead time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downstream gauge systems miss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upstream gorge funneling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dynamics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multi-source platform (rain + river + soil + DEM)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4,000+ lives lost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annually to floods in India (NDMA 2023)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Cellular blackout prevents SOS signals during peak disaster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Rescue dispatch is manual, slow, and lacks priority scoring.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FBA7955-BD99-FBF0-931F-8D5EF4D63AAA}"/>
              </a:ext>
            </a:extLst>
          </p:cNvPr>
          <p:cNvSpPr/>
          <p:nvPr/>
        </p:nvSpPr>
        <p:spPr>
          <a:xfrm>
            <a:off x="7016977" y="1281824"/>
            <a:ext cx="248920" cy="131176"/>
          </a:xfrm>
          <a:custGeom>
            <a:avLst/>
            <a:gdLst>
              <a:gd name="csX0" fmla="*/ 0 w 826048"/>
              <a:gd name="csY0" fmla="*/ 226863 h 356285"/>
              <a:gd name="csX1" fmla="*/ 294640 w 826048"/>
              <a:gd name="csY1" fmla="*/ 348783 h 356285"/>
              <a:gd name="csX2" fmla="*/ 782320 w 826048"/>
              <a:gd name="csY2" fmla="*/ 33823 h 356285"/>
              <a:gd name="csX3" fmla="*/ 772160 w 826048"/>
              <a:gd name="csY3" fmla="*/ 23663 h 3562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26048" h="356285">
                <a:moveTo>
                  <a:pt x="0" y="226863"/>
                </a:moveTo>
                <a:cubicBezTo>
                  <a:pt x="82126" y="303909"/>
                  <a:pt x="164253" y="380956"/>
                  <a:pt x="294640" y="348783"/>
                </a:cubicBezTo>
                <a:cubicBezTo>
                  <a:pt x="425027" y="316610"/>
                  <a:pt x="702733" y="88010"/>
                  <a:pt x="782320" y="33823"/>
                </a:cubicBezTo>
                <a:cubicBezTo>
                  <a:pt x="861907" y="-20364"/>
                  <a:pt x="817033" y="1649"/>
                  <a:pt x="772160" y="23663"/>
                </a:cubicBezTo>
              </a:path>
            </a:pathLst>
          </a:custGeom>
          <a:noFill/>
          <a:ln w="28575"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3CC5C6-6617-0E3F-C755-4036476803E9}"/>
              </a:ext>
            </a:extLst>
          </p:cNvPr>
          <p:cNvSpPr txBox="1"/>
          <p:nvPr/>
        </p:nvSpPr>
        <p:spPr>
          <a:xfrm>
            <a:off x="7378704" y="1139584"/>
            <a:ext cx="1737360" cy="40011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  <a:endParaRPr lang="en-IN" sz="20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0E8920-4B55-48D1-E6E2-1FCFA26F3BC7}"/>
              </a:ext>
            </a:extLst>
          </p:cNvPr>
          <p:cNvSpPr txBox="1"/>
          <p:nvPr/>
        </p:nvSpPr>
        <p:spPr>
          <a:xfrm>
            <a:off x="6653230" y="1569075"/>
            <a:ext cx="521842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risk engine: Rainfall + River Rise + CWC Thresholds + Soil Saturation + DEM slope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28+ real Indian rivers registered with 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CWC gauge threshold bands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danger breach detection → instant SMS alerts + rescue priority queue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SOS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128-byte compressed binary packet — works with ZERO cellular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 interactive risk map with real-time rescue lifecycle tracking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 portal for Citizens, Rescue Teams, Govt &amp; Admins.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F7AA959-081F-1DF3-88A5-7B9CD395DEA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99000"/>
                    </a14:imgEffect>
                  </a14:imgLayer>
                </a14:imgProps>
              </a:ext>
            </a:extLst>
          </a:blip>
          <a:srcRect t="7699"/>
          <a:stretch>
            <a:fillRect/>
          </a:stretch>
        </p:blipFill>
        <p:spPr>
          <a:xfrm>
            <a:off x="759091" y="4944938"/>
            <a:ext cx="11076492" cy="12606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350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Bodoni MT" panose="02070603080606020203" pitchFamily="18" charset="0"/>
              </a:rPr>
              <a:t>Elites1417</a:t>
            </a:r>
            <a:endParaRPr lang="en-IN" sz="2000" b="1" dirty="0">
              <a:latin typeface="Bodoni MT" panose="02070603080606020203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9348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196B83-41AA-C2F1-4DF6-B85E9B9EA43D}"/>
              </a:ext>
            </a:extLst>
          </p:cNvPr>
          <p:cNvSpPr txBox="1"/>
          <p:nvPr/>
        </p:nvSpPr>
        <p:spPr>
          <a:xfrm>
            <a:off x="2246465" y="1172960"/>
            <a:ext cx="2118166" cy="40011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E6C9F4BB-6AFB-B166-EEC9-11E1DE9046E0}"/>
              </a:ext>
            </a:extLst>
          </p:cNvPr>
          <p:cNvSpPr/>
          <p:nvPr/>
        </p:nvSpPr>
        <p:spPr>
          <a:xfrm>
            <a:off x="1634318" y="1208312"/>
            <a:ext cx="406400" cy="325492"/>
          </a:xfrm>
          <a:prstGeom prst="frame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CD3ED1-5D1A-FD06-A51F-208E37F967CC}"/>
              </a:ext>
            </a:extLst>
          </p:cNvPr>
          <p:cNvSpPr/>
          <p:nvPr/>
        </p:nvSpPr>
        <p:spPr>
          <a:xfrm>
            <a:off x="1500269" y="1528853"/>
            <a:ext cx="633371" cy="74617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A9D6E2-3354-2DB3-CBE7-D6EFC92F9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t="2378" r="5689" b="2323"/>
          <a:stretch>
            <a:fillRect/>
          </a:stretch>
        </p:blipFill>
        <p:spPr>
          <a:xfrm>
            <a:off x="6595623" y="936335"/>
            <a:ext cx="4283954" cy="5281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005A8D-B151-45F5-2144-4D8F607F79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829"/>
          <a:stretch>
            <a:fillRect/>
          </a:stretch>
        </p:blipFill>
        <p:spPr>
          <a:xfrm>
            <a:off x="785061" y="1734138"/>
            <a:ext cx="5635101" cy="42942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8" y="-145047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60534" y="13766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Bodoni MT" panose="02070603080606020203" pitchFamily="18" charset="0"/>
              </a:rPr>
              <a:t>Elites1417</a:t>
            </a:r>
            <a:endParaRPr lang="en-IN" sz="2000" b="1" dirty="0">
              <a:latin typeface="Bodoni MT" panose="02070603080606020203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10064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625FFA-4160-C678-CEFA-6E32600D37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18" b="3002"/>
          <a:stretch>
            <a:fillRect/>
          </a:stretch>
        </p:blipFill>
        <p:spPr>
          <a:xfrm>
            <a:off x="1086463" y="1030221"/>
            <a:ext cx="10019071" cy="528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853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IMPACT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Bodoni MT" panose="02070603080606020203" pitchFamily="18" charset="0"/>
              </a:rPr>
              <a:t>Elites1417</a:t>
            </a:r>
            <a:endParaRPr lang="en-IN" sz="2000" b="1" dirty="0">
              <a:latin typeface="Bodoni MT" panose="02070603080606020203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51D5C0-02F4-FFA0-F336-C76763B34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30" y="1374945"/>
            <a:ext cx="7349539" cy="28955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E3E3C7-7625-0DA5-7828-7129FBA77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7450" y="1374945"/>
            <a:ext cx="3798419" cy="28955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24CF48-E064-A4FB-12C9-E611102344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07" t="6659" r="4510" b="8255"/>
          <a:stretch>
            <a:fillRect/>
          </a:stretch>
        </p:blipFill>
        <p:spPr>
          <a:xfrm>
            <a:off x="329773" y="4407023"/>
            <a:ext cx="3665221" cy="17283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282638-3624-83A3-B4E7-9FDCA3985A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93" t="8016" r="2801" b="8016"/>
          <a:stretch>
            <a:fillRect/>
          </a:stretch>
        </p:blipFill>
        <p:spPr>
          <a:xfrm>
            <a:off x="4100448" y="4407022"/>
            <a:ext cx="3665221" cy="17283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8AB61F2-AAC2-14AF-9383-53FC145A0A1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409" t="7390" r="6315" b="8070"/>
          <a:stretch>
            <a:fillRect/>
          </a:stretch>
        </p:blipFill>
        <p:spPr>
          <a:xfrm>
            <a:off x="7879702" y="4407023"/>
            <a:ext cx="3982525" cy="17283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48251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Bodoni MT" panose="02070603080606020203" pitchFamily="18" charset="0"/>
              </a:rPr>
              <a:t>Elites1417</a:t>
            </a:r>
            <a:endParaRPr lang="en-IN" sz="2000" b="1" dirty="0">
              <a:latin typeface="Bodoni MT" panose="02070603080606020203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F470D236-F790-61C6-D789-914917522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3007590"/>
              </p:ext>
            </p:extLst>
          </p:nvPr>
        </p:nvGraphicFramePr>
        <p:xfrm>
          <a:off x="207823" y="1382641"/>
          <a:ext cx="6464566" cy="4910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lowchart: Multidocument 2">
            <a:extLst>
              <a:ext uri="{FF2B5EF4-FFF2-40B4-BE49-F238E27FC236}">
                <a16:creationId xmlns:a16="http://schemas.microsoft.com/office/drawing/2014/main" id="{23DA62CA-0834-B192-DEB3-7AADE3F3002C}"/>
              </a:ext>
            </a:extLst>
          </p:cNvPr>
          <p:cNvSpPr/>
          <p:nvPr/>
        </p:nvSpPr>
        <p:spPr>
          <a:xfrm>
            <a:off x="1450059" y="1072857"/>
            <a:ext cx="224170" cy="241514"/>
          </a:xfrm>
          <a:prstGeom prst="flowChartMultidocumen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76874-DEB9-079A-ABF1-791B7395BF81}"/>
              </a:ext>
            </a:extLst>
          </p:cNvPr>
          <p:cNvSpPr txBox="1"/>
          <p:nvPr/>
        </p:nvSpPr>
        <p:spPr>
          <a:xfrm>
            <a:off x="1704142" y="976539"/>
            <a:ext cx="3490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Research and References</a:t>
            </a:r>
            <a:endParaRPr lang="en-IN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3B55E-B026-F96A-ED34-FF142246125D}"/>
              </a:ext>
            </a:extLst>
          </p:cNvPr>
          <p:cNvSpPr txBox="1"/>
          <p:nvPr/>
        </p:nvSpPr>
        <p:spPr>
          <a:xfrm>
            <a:off x="1474837" y="1674323"/>
            <a:ext cx="1318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Nepal Flash Floods 2024–2026 – OCHA Situation Reports (Himalayan benchmark)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27BC67-5BA6-CAB4-41D2-3501F5FBA68B}"/>
              </a:ext>
            </a:extLst>
          </p:cNvPr>
          <p:cNvSpPr txBox="1"/>
          <p:nvPr/>
        </p:nvSpPr>
        <p:spPr>
          <a:xfrm>
            <a:off x="3947931" y="3330084"/>
            <a:ext cx="14005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Iridium SBD Protocol – Short Burst Data for Satellite IoT Messaging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240D8C-2EE0-BBD9-5829-45D47E7121D8}"/>
              </a:ext>
            </a:extLst>
          </p:cNvPr>
          <p:cNvSpPr txBox="1"/>
          <p:nvPr/>
        </p:nvSpPr>
        <p:spPr>
          <a:xfrm>
            <a:off x="1474837" y="4887334"/>
            <a:ext cx="1457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Skylo API – NarrowBand Satellite Gateway for IoT (India)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46C7349-8117-28FE-0AA9-C2775481997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698"/>
          <a:stretch>
            <a:fillRect/>
          </a:stretch>
        </p:blipFill>
        <p:spPr>
          <a:xfrm>
            <a:off x="6956385" y="1325697"/>
            <a:ext cx="4896532" cy="489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7813</TotalTime>
  <Words>343</Words>
  <Application>Microsoft Office PowerPoint</Application>
  <PresentationFormat>Widescreen</PresentationFormat>
  <Paragraphs>60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Bodoni MT</vt:lpstr>
      <vt:lpstr>Calibri</vt:lpstr>
      <vt:lpstr>Garamond</vt:lpstr>
      <vt:lpstr>Times New Roman</vt:lpstr>
      <vt:lpstr>TradeGothic</vt:lpstr>
      <vt:lpstr>Office Theme</vt:lpstr>
      <vt:lpstr>    SMART INDIA HACKATHON 2026</vt:lpstr>
      <vt:lpstr>        IDEA TITLE</vt:lpstr>
      <vt:lpstr>TECHNICAL APPROACH</vt:lpstr>
      <vt:lpstr>FEASIBILITY AND VIABILITY</vt:lpstr>
      <vt:lpstr>    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Samadhan Bodhane</cp:lastModifiedBy>
  <cp:revision>155</cp:revision>
  <dcterms:created xsi:type="dcterms:W3CDTF">2013-12-12T18:46:50Z</dcterms:created>
  <dcterms:modified xsi:type="dcterms:W3CDTF">2026-09-25T14:19:03Z</dcterms:modified>
  <cp:category/>
</cp:coreProperties>
</file>